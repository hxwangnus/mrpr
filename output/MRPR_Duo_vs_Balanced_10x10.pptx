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e9767c48f4107" /><Relationship Type="http://schemas.openxmlformats.org/officeDocument/2006/relationships/extended-properties" Target="/docProps/app.xml" Id="R42bd2bd1e8ce4a73" /><Relationship Type="http://schemas.openxmlformats.org/officeDocument/2006/relationships/officeDocument" Target="/ppt/presentation.xml" Id="Rabe1f9c9a726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7dd407399949a7"/>
  </p:sldMasterIdLst>
  <p:notesMasterIdLst>
    <p:notesMasterId xmlns:r="http://schemas.openxmlformats.org/officeDocument/2006/relationships" r:id="R5ee35d3c3de24aec"/>
  </p:notesMasterIdLst>
  <p:sldIdLst>
    <p:sldId xmlns:r="http://schemas.openxmlformats.org/officeDocument/2006/relationships" id="256" r:id="Rf0d5341df5004c7f"/>
    <p:sldId xmlns:r="http://schemas.openxmlformats.org/officeDocument/2006/relationships" id="257" r:id="R9561645b2cd04c18"/>
    <p:sldId xmlns:r="http://schemas.openxmlformats.org/officeDocument/2006/relationships" id="258" r:id="Red3d5913195c4504"/>
    <p:sldId xmlns:r="http://schemas.openxmlformats.org/officeDocument/2006/relationships" id="259" r:id="Reb5b6f0ca3864ca0"/>
    <p:sldId xmlns:r="http://schemas.openxmlformats.org/officeDocument/2006/relationships" id="260" r:id="R94f774515be5484a"/>
    <p:sldId xmlns:r="http://schemas.openxmlformats.org/officeDocument/2006/relationships" id="261" r:id="R0ea1974911a74c6c"/>
    <p:sldId xmlns:r="http://schemas.openxmlformats.org/officeDocument/2006/relationships" id="262" r:id="Rf4aa258b66a34c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9b834f5ae4835" /><Relationship Type="http://schemas.openxmlformats.org/officeDocument/2006/relationships/slideMaster" Target="/ppt/slideMasters/slideMaster1.xml" Id="R5a7dd407399949a7" /><Relationship Type="http://schemas.openxmlformats.org/officeDocument/2006/relationships/notesMaster" Target="/ppt/notesMasters/notesMaster1.xml" Id="R5ee35d3c3de24aec" /><Relationship Type="http://schemas.openxmlformats.org/officeDocument/2006/relationships/presProps" Target="/ppt/presProps.xml" Id="R26171518e3c540da" /><Relationship Type="http://schemas.openxmlformats.org/officeDocument/2006/relationships/tableStyles" Target="/ppt/tableStyles.xml" Id="Rf4bba57ff1294ddf" /><Relationship Type="http://schemas.openxmlformats.org/officeDocument/2006/relationships/slide" Target="/ppt/slides/slide1.xml" Id="Rf0d5341df5004c7f" /><Relationship Type="http://schemas.openxmlformats.org/officeDocument/2006/relationships/slide" Target="/ppt/slides/slide2.xml" Id="R9561645b2cd04c18" /><Relationship Type="http://schemas.openxmlformats.org/officeDocument/2006/relationships/slide" Target="/ppt/slides/slide3.xml" Id="Red3d5913195c4504" /><Relationship Type="http://schemas.openxmlformats.org/officeDocument/2006/relationships/slide" Target="/ppt/slides/slide4.xml" Id="Reb5b6f0ca3864ca0" /><Relationship Type="http://schemas.openxmlformats.org/officeDocument/2006/relationships/slide" Target="/ppt/slides/slide5.xml" Id="R94f774515be5484a" /><Relationship Type="http://schemas.openxmlformats.org/officeDocument/2006/relationships/slide" Target="/ppt/slides/slide6.xml" Id="R0ea1974911a74c6c" /><Relationship Type="http://schemas.openxmlformats.org/officeDocument/2006/relationships/slide" Target="/ppt/slides/slide7.xml" Id="Rf4aa258b66a34c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e12dc6f87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8cb40abce4931" /><Relationship Type="http://schemas.openxmlformats.org/officeDocument/2006/relationships/notesMaster" Target="/ppt/notesMasters/notesMaster1.xml" Id="R24533b541e8c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9791c2723241d4" /><Relationship Type="http://schemas.openxmlformats.org/officeDocument/2006/relationships/notesMaster" Target="/ppt/notesMasters/notesMaster1.xml" Id="Rfae96a3eeb5b40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c9a86ed5e42d8" /><Relationship Type="http://schemas.openxmlformats.org/officeDocument/2006/relationships/notesMaster" Target="/ppt/notesMasters/notesMaster1.xml" Id="R028aac6168c5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db1f9e9dbb4214" /><Relationship Type="http://schemas.openxmlformats.org/officeDocument/2006/relationships/notesMaster" Target="/ppt/notesMasters/notesMaster1.xml" Id="R7a24dbddaa524f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0189508e04efe" /><Relationship Type="http://schemas.openxmlformats.org/officeDocument/2006/relationships/notesMaster" Target="/ppt/notesMasters/notesMaster1.xml" Id="R73a5b9082dee45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fa51dd5dba4185" /><Relationship Type="http://schemas.openxmlformats.org/officeDocument/2006/relationships/notesMaster" Target="/ppt/notesMasters/notesMaster1.xml" Id="Rc788f67628a045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3bfc680a2a4881" /><Relationship Type="http://schemas.openxmlformats.org/officeDocument/2006/relationships/notesMaster" Target="/ppt/notesMasters/notesMaster1.xml" Id="R97302865f3b14e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bb60d741247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b38e64f95423c" /><Relationship Type="http://schemas.openxmlformats.org/officeDocument/2006/relationships/slideLayout" Target="/ppt/slideLayouts/slideLayout1.xml" Id="Ra9569d06151447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569d06151447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7bd1358744629" /><Relationship Type="http://schemas.openxmlformats.org/officeDocument/2006/relationships/notesSlide" Target="/ppt/notesSlides/notesSlide1.xml" Id="R83424105e2f5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a1b8f82ad469f" /><Relationship Type="http://schemas.openxmlformats.org/officeDocument/2006/relationships/notesSlide" Target="/ppt/notesSlides/notesSlide2.xml" Id="Rcc5e10c1a4cb46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6e2b748aa4db3" /><Relationship Type="http://schemas.openxmlformats.org/officeDocument/2006/relationships/notesSlide" Target="/ppt/notesSlides/notesSlide3.xml" Id="R37a510069b774d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f36629f2b4927" /><Relationship Type="http://schemas.openxmlformats.org/officeDocument/2006/relationships/notesSlide" Target="/ppt/notesSlides/notesSlide4.xml" Id="R3654bd55295d45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27c89a60e4746" /><Relationship Type="http://schemas.openxmlformats.org/officeDocument/2006/relationships/notesSlide" Target="/ppt/notesSlides/notesSlide5.xml" Id="Rc3682eea336747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38059182a47fe" /><Relationship Type="http://schemas.openxmlformats.org/officeDocument/2006/relationships/notesSlide" Target="/ppt/notesSlides/notesSlide6.xml" Id="Rad2d515216a149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5d5f58fee412c" /><Relationship Type="http://schemas.openxmlformats.org/officeDocument/2006/relationships/chart" Target="/ppt/slides/charts/chart1.xml" Id="Ra4c4c3134d824681" /><Relationship Type="http://schemas.openxmlformats.org/officeDocument/2006/relationships/notesSlide" Target="/ppt/notesSlides/notesSlide7.xml" Id="Rb4b9e0b3efb347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Duo mode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5"/>
              <c:pt idx="0">
                <c:v>1 source</c:v>
              </c:pt>
              <c:pt idx="1">
                <c:v>2 sources</c:v>
              </c:pt>
              <c:pt idx="2">
                <c:v>3 sources</c:v>
              </c:pt>
              <c:pt idx="3">
                <c:v>4 sources</c:v>
              </c:pt>
              <c:pt idx="4">
                <c:v>5 sources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10.2</c:v>
              </c:pt>
              <c:pt idx="2">
                <c:v>9.8</c:v>
              </c:pt>
              <c:pt idx="3">
                <c:v>6.5</c:v>
              </c:pt>
              <c:pt idx="4">
                <c:v>5</c:v>
              </c:pt>
            </c:numLit>
          </c:val>
        </c:ser>
        <c:ser>
          <c:idx val="1"/>
          <c:order val="1"/>
          <c:tx>
            <c:v>Balanced mode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1 source</c:v>
              </c:pt>
              <c:pt idx="1">
                <c:v>2 sources</c:v>
              </c:pt>
              <c:pt idx="2">
                <c:v>3 sources</c:v>
              </c:pt>
              <c:pt idx="3">
                <c:v>4 sources</c:v>
              </c:pt>
              <c:pt idx="4">
                <c:v>5 sources</c:v>
              </c:pt>
            </c:str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1.2</c:v>
              </c:pt>
              <c:pt idx="2">
                <c:v>6</c:v>
              </c:pt>
              <c:pt idx="3">
                <c:v>1.3</c:v>
              </c:pt>
              <c:pt idx="4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pertitle-left">
            <a:extLst xmlns:a="http://schemas.openxmlformats.org/drawingml/2006/main">
              <a:ext uri="{FF2B5EF4-FFF2-40B4-BE49-F238E27FC236}">
                <a16:creationId xmlns:a16="http://schemas.microsoft.com/office/drawing/2014/main" id="{2DA30E6C-1556-42D6-A5FB-437E84C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MRPR · POWER ROUTING</a:t>
            </a:r>
          </a:p>
        </p:txBody>
      </p:sp>
      <p:sp>
        <p:nvSpPr>
          <p:cNvPr id="2" name="supertitle-right">
            <a:extLst xmlns:a="http://schemas.openxmlformats.org/drawingml/2006/main">
              <a:ext uri="{FF2B5EF4-FFF2-40B4-BE49-F238E27FC236}">
                <a16:creationId xmlns:a16="http://schemas.microsoft.com/office/drawing/2014/main" id="{37B2E730-75CE-4E2B-9C71-FB427767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2240"/>
            <a:ext cx="2701957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 JULY 2026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6BF3C385-3846-4F6B-80AE-F5DED823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10001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vs
Balanced Mode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7F15D43-D365-414F-8FE7-1498F15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86400"/>
            <a:ext cx="781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30 deterministic layouts on a 10 × 10 grid</a:t>
            </a:r>
          </a:p>
        </p:txBody>
      </p:sp>
      <p:sp>
        <p:nvSpPr>
          <p:cNvPr id="5" name="deck-method">
            <a:extLst xmlns:a="http://schemas.openxmlformats.org/drawingml/2006/main">
              <a:ext uri="{FF2B5EF4-FFF2-40B4-BE49-F238E27FC236}">
                <a16:creationId xmlns:a16="http://schemas.microsoft.com/office/drawing/2014/main" id="{927BD001-A933-4CF9-A3CE-3FE7E53A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1980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Unweighted planning mode · 1–5 power sources · all action modules active</a:t>
            </a:r>
          </a:p>
        </p:txBody>
      </p:sp>
    </p:spTree>
    <p:extLst>
      <p:ext uri="{BB962C8B-B14F-4D97-AF65-F5344CB8AC3E}">
        <p14:creationId xmlns:p14="http://schemas.microsoft.com/office/powerpoint/2010/main" val="20247392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se-1-title">
            <a:extLst xmlns:a="http://schemas.openxmlformats.org/drawingml/2006/main">
              <a:ext uri="{FF2B5EF4-FFF2-40B4-BE49-F238E27FC236}">
                <a16:creationId xmlns:a16="http://schemas.microsoft.com/office/drawing/2014/main" id="{B0699CFA-F6EA-4AEF-824B-ABA2E8F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source makes both modes identical</a:t>
            </a:r>
          </a:p>
        </p:txBody>
      </p:sp>
      <p:sp>
        <p:nvSpPr>
          <p:cNvPr id="2" name="case-1-subtitle">
            <a:extLst xmlns:a="http://schemas.openxmlformats.org/drawingml/2006/main">
              <a:ext uri="{FF2B5EF4-FFF2-40B4-BE49-F238E27FC236}">
                <a16:creationId xmlns:a16="http://schemas.microsoft.com/office/drawing/2014/main" id="{3D35E376-79C7-4E8D-A5B2-05F3867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19150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Cross / hub · 18 actions · 1 source · total route distance 50</a:t>
            </a:r>
          </a:p>
        </p:txBody>
      </p:sp>
      <p:sp>
        <p:nvSpPr>
          <p:cNvPr id="3" name="case-1-legend-label">
            <a:extLst xmlns:a="http://schemas.openxmlformats.org/drawingml/2006/main">
              <a:ext uri="{FF2B5EF4-FFF2-40B4-BE49-F238E27FC236}">
                <a16:creationId xmlns:a16="http://schemas.microsoft.com/office/drawing/2014/main" id="{7D5A1E3B-91F6-4D2E-B428-CB79DA6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21336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Cell color = source owner</a:t>
            </a:r>
          </a:p>
        </p:txBody>
      </p:sp>
      <p:sp>
        <p:nvSpPr>
          <p:cNvPr id="4" name="case-1-duo-panel">
            <a:extLst xmlns:a="http://schemas.openxmlformats.org/drawingml/2006/main">
              <a:ext uri="{FF2B5EF4-FFF2-40B4-BE49-F238E27FC236}">
                <a16:creationId xmlns:a16="http://schemas.microsoft.com/office/drawing/2014/main" id="{350614B7-F52F-4AB5-8716-0E054582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se-1-balanced-panel">
            <a:extLst xmlns:a="http://schemas.openxmlformats.org/drawingml/2006/main">
              <a:ext uri="{FF2B5EF4-FFF2-40B4-BE49-F238E27FC236}">
                <a16:creationId xmlns:a16="http://schemas.microsoft.com/office/drawing/2014/main" id="{E89FB3E2-950E-4057-A10B-F7C222C0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7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se-1-duo-heading">
            <a:extLst xmlns:a="http://schemas.openxmlformats.org/drawingml/2006/main">
              <a:ext uri="{FF2B5EF4-FFF2-40B4-BE49-F238E27FC236}">
                <a16:creationId xmlns:a16="http://schemas.microsoft.com/office/drawing/2014/main" id="{0E77A142-2D70-4B5C-A968-DF941E9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· nearest source</a:t>
            </a:r>
          </a:p>
        </p:txBody>
      </p:sp>
      <p:sp>
        <p:nvSpPr>
          <p:cNvPr id="7" name="case-1-balanced-heading">
            <a:extLst xmlns:a="http://schemas.openxmlformats.org/drawingml/2006/main">
              <a:ext uri="{FF2B5EF4-FFF2-40B4-BE49-F238E27FC236}">
                <a16:creationId xmlns:a16="http://schemas.microsoft.com/office/drawing/2014/main" id="{EBA61FB9-5472-47EA-B2AA-28314174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· equal-distance rebalance</a:t>
            </a:r>
          </a:p>
        </p:txBody>
      </p:sp>
      <p:sp>
        <p:nvSpPr>
          <p:cNvPr id="8" name="case-1-duo-loads">
            <a:extLst xmlns:a="http://schemas.openxmlformats.org/drawingml/2006/main">
              <a:ext uri="{FF2B5EF4-FFF2-40B4-BE49-F238E27FC236}">
                <a16:creationId xmlns:a16="http://schemas.microsoft.com/office/drawing/2014/main" id="{19AF5C9C-0FCD-4D5B-9D6A-5A83179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18</a:t>
            </a:r>
          </a:p>
        </p:txBody>
      </p:sp>
      <p:sp>
        <p:nvSpPr>
          <p:cNvPr id="9" name="case-1-duo-metrics">
            <a:extLst xmlns:a="http://schemas.openxmlformats.org/drawingml/2006/main">
              <a:ext uri="{FF2B5EF4-FFF2-40B4-BE49-F238E27FC236}">
                <a16:creationId xmlns:a16="http://schemas.microsoft.com/office/drawing/2014/main" id="{3AF29E50-3991-47F8-85F2-C855CB97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0   ·   Load-SSE 0</a:t>
            </a:r>
          </a:p>
        </p:txBody>
      </p:sp>
      <p:sp>
        <p:nvSpPr>
          <p:cNvPr id="10" name="case-1-balanced-loads">
            <a:extLst xmlns:a="http://schemas.openxmlformats.org/drawingml/2006/main">
              <a:ext uri="{FF2B5EF4-FFF2-40B4-BE49-F238E27FC236}">
                <a16:creationId xmlns:a16="http://schemas.microsoft.com/office/drawing/2014/main" id="{B5E56DF4-5FBD-490A-8726-D21AC14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18</a:t>
            </a:r>
          </a:p>
        </p:txBody>
      </p:sp>
      <p:sp>
        <p:nvSpPr>
          <p:cNvPr id="11" name="case-1-balanced-metrics">
            <a:extLst xmlns:a="http://schemas.openxmlformats.org/drawingml/2006/main">
              <a:ext uri="{FF2B5EF4-FFF2-40B4-BE49-F238E27FC236}">
                <a16:creationId xmlns:a16="http://schemas.microsoft.com/office/drawing/2014/main" id="{8275166D-CC6B-481D-9FBD-C037118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0   ·   Load-SSE 0</a:t>
            </a:r>
          </a:p>
        </p:txBody>
      </p:sp>
      <p:sp>
        <p:nvSpPr>
          <p:cNvPr id="12" name="case-1-takeaway">
            <a:extLst xmlns:a="http://schemas.openxmlformats.org/drawingml/2006/main">
              <a:ext uri="{FF2B5EF4-FFF2-40B4-BE49-F238E27FC236}">
                <a16:creationId xmlns:a16="http://schemas.microsoft.com/office/drawing/2014/main" id="{103E7DD0-83D9-4913-9749-08E5EFC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/ 18 owners changed · no alternative source · every shortest route is identical</a:t>
            </a:r>
          </a:p>
        </p:txBody>
      </p:sp>
      <p:sp>
        <p:nvSpPr>
          <p:cNvPr id="13" name="case-1-slide-number">
            <a:extLst xmlns:a="http://schemas.openxmlformats.org/drawingml/2006/main">
              <a:ext uri="{FF2B5EF4-FFF2-40B4-BE49-F238E27FC236}">
                <a16:creationId xmlns:a16="http://schemas.microsoft.com/office/drawing/2014/main" id="{441395E8-7C95-4692-9AA6-0C9E7CEF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2638425" y="1123950"/>
          <a:ext xmlns:a="http://schemas.openxmlformats.org/drawingml/2006/main" cx="2076450" cy="22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161925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19050" marR="1905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identical owner map</a:t>
                      </a:r>
                    </a:p>
                  </a:txBody>
                  <a:tcPr marL="19050" marR="190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15049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73723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5188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se-2-title">
            <a:extLst xmlns:a="http://schemas.openxmlformats.org/drawingml/2006/main">
              <a:ext uri="{FF2B5EF4-FFF2-40B4-BE49-F238E27FC236}">
                <a16:creationId xmlns:a16="http://schemas.microsoft.com/office/drawing/2014/main" id="{0420A721-68EC-4F55-B358-0B23851B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tied modules cut the two-source spread from 9 to 1</a:t>
            </a:r>
          </a:p>
        </p:txBody>
      </p:sp>
      <p:sp>
        <p:nvSpPr>
          <p:cNvPr id="2" name="case-2-subtitle">
            <a:extLst xmlns:a="http://schemas.openxmlformats.org/drawingml/2006/main">
              <a:ext uri="{FF2B5EF4-FFF2-40B4-BE49-F238E27FC236}">
                <a16:creationId xmlns:a16="http://schemas.microsoft.com/office/drawing/2014/main" id="{FEA5753F-9AE2-4565-8442-251E75C7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19150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Cross / hub · 17 actions · 2 sources · total route distance 78</a:t>
            </a:r>
          </a:p>
        </p:txBody>
      </p:sp>
      <p:sp>
        <p:nvSpPr>
          <p:cNvPr id="3" name="case-2-legend-label">
            <a:extLst xmlns:a="http://schemas.openxmlformats.org/drawingml/2006/main">
              <a:ext uri="{FF2B5EF4-FFF2-40B4-BE49-F238E27FC236}">
                <a16:creationId xmlns:a16="http://schemas.microsoft.com/office/drawing/2014/main" id="{CAD41888-022B-4149-82BD-CC77625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21336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Cell color = source owner</a:t>
            </a:r>
          </a:p>
        </p:txBody>
      </p:sp>
      <p:sp>
        <p:nvSpPr>
          <p:cNvPr id="4" name="case-2-duo-panel">
            <a:extLst xmlns:a="http://schemas.openxmlformats.org/drawingml/2006/main">
              <a:ext uri="{FF2B5EF4-FFF2-40B4-BE49-F238E27FC236}">
                <a16:creationId xmlns:a16="http://schemas.microsoft.com/office/drawing/2014/main" id="{98F77565-47E7-4023-ADBE-917794BD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se-2-balanced-panel">
            <a:extLst xmlns:a="http://schemas.openxmlformats.org/drawingml/2006/main">
              <a:ext uri="{FF2B5EF4-FFF2-40B4-BE49-F238E27FC236}">
                <a16:creationId xmlns:a16="http://schemas.microsoft.com/office/drawing/2014/main" id="{4DD8E290-713F-40A9-AB04-F7B0423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7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se-2-duo-heading">
            <a:extLst xmlns:a="http://schemas.openxmlformats.org/drawingml/2006/main">
              <a:ext uri="{FF2B5EF4-FFF2-40B4-BE49-F238E27FC236}">
                <a16:creationId xmlns:a16="http://schemas.microsoft.com/office/drawing/2014/main" id="{B48F153D-A08C-44E8-A690-93D0B2C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· nearest source</a:t>
            </a:r>
          </a:p>
        </p:txBody>
      </p:sp>
      <p:sp>
        <p:nvSpPr>
          <p:cNvPr id="7" name="case-2-balanced-heading">
            <a:extLst xmlns:a="http://schemas.openxmlformats.org/drawingml/2006/main">
              <a:ext uri="{FF2B5EF4-FFF2-40B4-BE49-F238E27FC236}">
                <a16:creationId xmlns:a16="http://schemas.microsoft.com/office/drawing/2014/main" id="{FDF46E07-82D1-40D6-AFEE-F6021573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· equal-distance rebalance</a:t>
            </a:r>
          </a:p>
        </p:txBody>
      </p:sp>
      <p:sp>
        <p:nvSpPr>
          <p:cNvPr id="8" name="case-2-duo-loads">
            <a:extLst xmlns:a="http://schemas.openxmlformats.org/drawingml/2006/main">
              <a:ext uri="{FF2B5EF4-FFF2-40B4-BE49-F238E27FC236}">
                <a16:creationId xmlns:a16="http://schemas.microsoft.com/office/drawing/2014/main" id="{F52B62F1-1D70-4EF8-9ED2-4C4ADD73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13   ·   B2 4</a:t>
            </a:r>
          </a:p>
        </p:txBody>
      </p:sp>
      <p:sp>
        <p:nvSpPr>
          <p:cNvPr id="9" name="case-2-duo-metrics">
            <a:extLst xmlns:a="http://schemas.openxmlformats.org/drawingml/2006/main">
              <a:ext uri="{FF2B5EF4-FFF2-40B4-BE49-F238E27FC236}">
                <a16:creationId xmlns:a16="http://schemas.microsoft.com/office/drawing/2014/main" id="{14E60B14-60C1-4F16-91CF-67564D0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9   ·   Load-SSE 40.5</a:t>
            </a:r>
          </a:p>
        </p:txBody>
      </p:sp>
      <p:sp>
        <p:nvSpPr>
          <p:cNvPr id="10" name="case-2-balanced-loads">
            <a:extLst xmlns:a="http://schemas.openxmlformats.org/drawingml/2006/main">
              <a:ext uri="{FF2B5EF4-FFF2-40B4-BE49-F238E27FC236}">
                <a16:creationId xmlns:a16="http://schemas.microsoft.com/office/drawing/2014/main" id="{06EDFD88-AAE6-4647-A663-EA4BC424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9   ·   B2 8</a:t>
            </a:r>
          </a:p>
        </p:txBody>
      </p:sp>
      <p:sp>
        <p:nvSpPr>
          <p:cNvPr id="11" name="case-2-balanced-metrics">
            <a:extLst xmlns:a="http://schemas.openxmlformats.org/drawingml/2006/main">
              <a:ext uri="{FF2B5EF4-FFF2-40B4-BE49-F238E27FC236}">
                <a16:creationId xmlns:a16="http://schemas.microsoft.com/office/drawing/2014/main" id="{F3A8D2A6-9F42-4FEA-A385-B1B9040C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1   ·   Load-SSE 0.5</a:t>
            </a:r>
          </a:p>
        </p:txBody>
      </p:sp>
      <p:sp>
        <p:nvSpPr>
          <p:cNvPr id="12" name="case-2-takeaway">
            <a:extLst xmlns:a="http://schemas.openxmlformats.org/drawingml/2006/main">
              <a:ext uri="{FF2B5EF4-FFF2-40B4-BE49-F238E27FC236}">
                <a16:creationId xmlns:a16="http://schemas.microsoft.com/office/drawing/2014/main" id="{35B72307-61BD-4136-A010-C87BF15D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/ 17 owners changed · total route distance 78 → 78 · every action keeps the same shortest distance</a:t>
            </a:r>
          </a:p>
        </p:txBody>
      </p:sp>
      <p:sp>
        <p:nvSpPr>
          <p:cNvPr id="13" name="case-2-slide-number">
            <a:extLst xmlns:a="http://schemas.openxmlformats.org/drawingml/2006/main">
              <a:ext uri="{FF2B5EF4-FFF2-40B4-BE49-F238E27FC236}">
                <a16:creationId xmlns:a16="http://schemas.microsoft.com/office/drawing/2014/main" id="{E5C05BA7-A624-4442-8FA3-5EB30921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2638425" y="1123950"/>
          <a:ext xmlns:a="http://schemas.openxmlformats.org/drawingml/2006/main" cx="2952750" cy="22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457200"/>
                <a:gridCol w="203835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19050" marR="1905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19050" marR="1905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  owner changed</a:t>
                      </a:r>
                    </a:p>
                  </a:txBody>
                  <a:tcPr marL="19050" marR="190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15049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73723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4566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se-3-title">
            <a:extLst xmlns:a="http://schemas.openxmlformats.org/drawingml/2006/main">
              <a:ext uri="{FF2B5EF4-FFF2-40B4-BE49-F238E27FC236}">
                <a16:creationId xmlns:a16="http://schemas.microsoft.com/office/drawing/2014/main" id="{8FDE59E1-6A9E-44E2-9337-A43D931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Equal-distance moves produce a perfect 7 / 7 / 7 split</a:t>
            </a:r>
          </a:p>
        </p:txBody>
      </p:sp>
      <p:sp>
        <p:nvSpPr>
          <p:cNvPr id="2" name="case-3-subtitle">
            <a:extLst xmlns:a="http://schemas.openxmlformats.org/drawingml/2006/main">
              <a:ext uri="{FF2B5EF4-FFF2-40B4-BE49-F238E27FC236}">
                <a16:creationId xmlns:a16="http://schemas.microsoft.com/office/drawing/2014/main" id="{6A86C42C-58E9-43C0-927F-11D4D7C2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19150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H-shaped frame · 21 actions · 3 sources · total route distance 74</a:t>
            </a:r>
          </a:p>
        </p:txBody>
      </p:sp>
      <p:sp>
        <p:nvSpPr>
          <p:cNvPr id="3" name="case-3-legend-label">
            <a:extLst xmlns:a="http://schemas.openxmlformats.org/drawingml/2006/main">
              <a:ext uri="{FF2B5EF4-FFF2-40B4-BE49-F238E27FC236}">
                <a16:creationId xmlns:a16="http://schemas.microsoft.com/office/drawing/2014/main" id="{38F48FCF-1E51-442A-A9D8-5454BC5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21336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Cell color = source owner</a:t>
            </a:r>
          </a:p>
        </p:txBody>
      </p:sp>
      <p:sp>
        <p:nvSpPr>
          <p:cNvPr id="4" name="case-3-duo-panel">
            <a:extLst xmlns:a="http://schemas.openxmlformats.org/drawingml/2006/main">
              <a:ext uri="{FF2B5EF4-FFF2-40B4-BE49-F238E27FC236}">
                <a16:creationId xmlns:a16="http://schemas.microsoft.com/office/drawing/2014/main" id="{14EA59CA-DADD-40CB-B514-497B9784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se-3-balanced-panel">
            <a:extLst xmlns:a="http://schemas.openxmlformats.org/drawingml/2006/main">
              <a:ext uri="{FF2B5EF4-FFF2-40B4-BE49-F238E27FC236}">
                <a16:creationId xmlns:a16="http://schemas.microsoft.com/office/drawing/2014/main" id="{01EDF057-5298-4B42-AF59-5454A177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7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se-3-duo-heading">
            <a:extLst xmlns:a="http://schemas.openxmlformats.org/drawingml/2006/main">
              <a:ext uri="{FF2B5EF4-FFF2-40B4-BE49-F238E27FC236}">
                <a16:creationId xmlns:a16="http://schemas.microsoft.com/office/drawing/2014/main" id="{EC3DCEA9-3219-4C2D-A3F2-AEA3339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· nearest source</a:t>
            </a:r>
          </a:p>
        </p:txBody>
      </p:sp>
      <p:sp>
        <p:nvSpPr>
          <p:cNvPr id="7" name="case-3-balanced-heading">
            <a:extLst xmlns:a="http://schemas.openxmlformats.org/drawingml/2006/main">
              <a:ext uri="{FF2B5EF4-FFF2-40B4-BE49-F238E27FC236}">
                <a16:creationId xmlns:a16="http://schemas.microsoft.com/office/drawing/2014/main" id="{58FCFC58-E191-44E2-A689-2DFCD9FC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· equal-distance rebalance</a:t>
            </a:r>
          </a:p>
        </p:txBody>
      </p:sp>
      <p:sp>
        <p:nvSpPr>
          <p:cNvPr id="8" name="case-3-duo-loads">
            <a:extLst xmlns:a="http://schemas.openxmlformats.org/drawingml/2006/main">
              <a:ext uri="{FF2B5EF4-FFF2-40B4-BE49-F238E27FC236}">
                <a16:creationId xmlns:a16="http://schemas.microsoft.com/office/drawing/2014/main" id="{3F9EB073-57E1-4570-ADCF-FDB12A4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15   ·   B2 3   ·   B3 3</a:t>
            </a:r>
          </a:p>
        </p:txBody>
      </p:sp>
      <p:sp>
        <p:nvSpPr>
          <p:cNvPr id="9" name="case-3-duo-metrics">
            <a:extLst xmlns:a="http://schemas.openxmlformats.org/drawingml/2006/main">
              <a:ext uri="{FF2B5EF4-FFF2-40B4-BE49-F238E27FC236}">
                <a16:creationId xmlns:a16="http://schemas.microsoft.com/office/drawing/2014/main" id="{6EE014F8-B58B-41B5-A91C-E753CFC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12   ·   Load-SSE 96</a:t>
            </a:r>
          </a:p>
        </p:txBody>
      </p:sp>
      <p:sp>
        <p:nvSpPr>
          <p:cNvPr id="10" name="case-3-balanced-loads">
            <a:extLst xmlns:a="http://schemas.openxmlformats.org/drawingml/2006/main">
              <a:ext uri="{FF2B5EF4-FFF2-40B4-BE49-F238E27FC236}">
                <a16:creationId xmlns:a16="http://schemas.microsoft.com/office/drawing/2014/main" id="{EABB1FCE-5014-49A9-BE37-533B6143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7   ·   B2 7   ·   B3 7</a:t>
            </a:r>
          </a:p>
        </p:txBody>
      </p:sp>
      <p:sp>
        <p:nvSpPr>
          <p:cNvPr id="11" name="case-3-balanced-metrics">
            <a:extLst xmlns:a="http://schemas.openxmlformats.org/drawingml/2006/main">
              <a:ext uri="{FF2B5EF4-FFF2-40B4-BE49-F238E27FC236}">
                <a16:creationId xmlns:a16="http://schemas.microsoft.com/office/drawing/2014/main" id="{DE744BB9-BB14-4951-ADD3-7C2B497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0   ·   Load-SSE 0</a:t>
            </a:r>
          </a:p>
        </p:txBody>
      </p:sp>
      <p:sp>
        <p:nvSpPr>
          <p:cNvPr id="12" name="case-3-takeaway">
            <a:extLst xmlns:a="http://schemas.openxmlformats.org/drawingml/2006/main">
              <a:ext uri="{FF2B5EF4-FFF2-40B4-BE49-F238E27FC236}">
                <a16:creationId xmlns:a16="http://schemas.microsoft.com/office/drawing/2014/main" id="{4FE80FE3-4DD8-41ED-A28C-CE6F21F5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/ 21 owners changed · total route distance 74 → 74 · every action keeps the same shortest distance</a:t>
            </a:r>
          </a:p>
        </p:txBody>
      </p:sp>
      <p:sp>
        <p:nvSpPr>
          <p:cNvPr id="13" name="case-3-slide-number">
            <a:extLst xmlns:a="http://schemas.openxmlformats.org/drawingml/2006/main">
              <a:ext uri="{FF2B5EF4-FFF2-40B4-BE49-F238E27FC236}">
                <a16:creationId xmlns:a16="http://schemas.microsoft.com/office/drawing/2014/main" id="{43B3C429-5D91-4C87-95D1-6F06E22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2638425" y="1123950"/>
          <a:ext xmlns:a="http://schemas.openxmlformats.org/drawingml/2006/main" cx="3409950" cy="22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203835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19050" marR="1905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19050" marR="1905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19050" marR="1905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  owner changed</a:t>
                      </a:r>
                    </a:p>
                  </a:txBody>
                  <a:tcPr marL="19050" marR="190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15049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73723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80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se-4-title">
            <a:extLst xmlns:a="http://schemas.openxmlformats.org/drawingml/2006/main">
              <a:ext uri="{FF2B5EF4-FFF2-40B4-BE49-F238E27FC236}">
                <a16:creationId xmlns:a16="http://schemas.microsoft.com/office/drawing/2014/main" id="{2289FE13-3E98-4BF4-A891-EEC7FBD8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reassignments balance the four-source mesh at 9 each</a:t>
            </a:r>
          </a:p>
        </p:txBody>
      </p:sp>
      <p:sp>
        <p:nvSpPr>
          <p:cNvPr id="2" name="case-4-subtitle">
            <a:extLst xmlns:a="http://schemas.openxmlformats.org/drawingml/2006/main">
              <a:ext uri="{FF2B5EF4-FFF2-40B4-BE49-F238E27FC236}">
                <a16:creationId xmlns:a16="http://schemas.microsoft.com/office/drawing/2014/main" id="{86DDEE42-06C1-49B9-AF69-5A11394A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19150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Dense rectangular mesh · 36 actions · 4 sources · total route distance 92</a:t>
            </a:r>
          </a:p>
        </p:txBody>
      </p:sp>
      <p:sp>
        <p:nvSpPr>
          <p:cNvPr id="3" name="case-4-legend-label">
            <a:extLst xmlns:a="http://schemas.openxmlformats.org/drawingml/2006/main">
              <a:ext uri="{FF2B5EF4-FFF2-40B4-BE49-F238E27FC236}">
                <a16:creationId xmlns:a16="http://schemas.microsoft.com/office/drawing/2014/main" id="{5859ADD9-DD58-485E-8091-18EA37E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21336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Cell color = source owner</a:t>
            </a:r>
          </a:p>
        </p:txBody>
      </p:sp>
      <p:sp>
        <p:nvSpPr>
          <p:cNvPr id="4" name="case-4-duo-panel">
            <a:extLst xmlns:a="http://schemas.openxmlformats.org/drawingml/2006/main">
              <a:ext uri="{FF2B5EF4-FFF2-40B4-BE49-F238E27FC236}">
                <a16:creationId xmlns:a16="http://schemas.microsoft.com/office/drawing/2014/main" id="{ED77068A-CF78-4B9A-8940-D4CAD953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se-4-balanced-panel">
            <a:extLst xmlns:a="http://schemas.openxmlformats.org/drawingml/2006/main">
              <a:ext uri="{FF2B5EF4-FFF2-40B4-BE49-F238E27FC236}">
                <a16:creationId xmlns:a16="http://schemas.microsoft.com/office/drawing/2014/main" id="{D87A0E48-9A80-48E1-8D69-B57E5AC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7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se-4-duo-heading">
            <a:extLst xmlns:a="http://schemas.openxmlformats.org/drawingml/2006/main">
              <a:ext uri="{FF2B5EF4-FFF2-40B4-BE49-F238E27FC236}">
                <a16:creationId xmlns:a16="http://schemas.microsoft.com/office/drawing/2014/main" id="{A1370E15-CBD3-4703-8A9F-0A8EE4F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· nearest source</a:t>
            </a:r>
          </a:p>
        </p:txBody>
      </p:sp>
      <p:sp>
        <p:nvSpPr>
          <p:cNvPr id="7" name="case-4-balanced-heading">
            <a:extLst xmlns:a="http://schemas.openxmlformats.org/drawingml/2006/main">
              <a:ext uri="{FF2B5EF4-FFF2-40B4-BE49-F238E27FC236}">
                <a16:creationId xmlns:a16="http://schemas.microsoft.com/office/drawing/2014/main" id="{8DF98B50-EFE8-4BC4-AC9C-0BE3A26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· equal-distance rebalance</a:t>
            </a:r>
          </a:p>
        </p:txBody>
      </p:sp>
      <p:sp>
        <p:nvSpPr>
          <p:cNvPr id="8" name="case-4-duo-loads">
            <a:extLst xmlns:a="http://schemas.openxmlformats.org/drawingml/2006/main">
              <a:ext uri="{FF2B5EF4-FFF2-40B4-BE49-F238E27FC236}">
                <a16:creationId xmlns:a16="http://schemas.microsoft.com/office/drawing/2014/main" id="{DDE46AD7-3527-4173-A1C7-D8606FF0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11   ·   B2 11   ·   B3 7   ·   B4 7</a:t>
            </a:r>
          </a:p>
        </p:txBody>
      </p:sp>
      <p:sp>
        <p:nvSpPr>
          <p:cNvPr id="9" name="case-4-duo-metrics">
            <a:extLst xmlns:a="http://schemas.openxmlformats.org/drawingml/2006/main">
              <a:ext uri="{FF2B5EF4-FFF2-40B4-BE49-F238E27FC236}">
                <a16:creationId xmlns:a16="http://schemas.microsoft.com/office/drawing/2014/main" id="{2D014ADA-C8A7-4F30-9E97-3064027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4   ·   Load-SSE 16</a:t>
            </a:r>
          </a:p>
        </p:txBody>
      </p:sp>
      <p:sp>
        <p:nvSpPr>
          <p:cNvPr id="10" name="case-4-balanced-loads">
            <a:extLst xmlns:a="http://schemas.openxmlformats.org/drawingml/2006/main">
              <a:ext uri="{FF2B5EF4-FFF2-40B4-BE49-F238E27FC236}">
                <a16:creationId xmlns:a16="http://schemas.microsoft.com/office/drawing/2014/main" id="{23FDA6E9-5A7E-423E-B55D-A003086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9   ·   B2 9   ·   B3 9   ·   B4 9</a:t>
            </a:r>
          </a:p>
        </p:txBody>
      </p:sp>
      <p:sp>
        <p:nvSpPr>
          <p:cNvPr id="11" name="case-4-balanced-metrics">
            <a:extLst xmlns:a="http://schemas.openxmlformats.org/drawingml/2006/main">
              <a:ext uri="{FF2B5EF4-FFF2-40B4-BE49-F238E27FC236}">
                <a16:creationId xmlns:a16="http://schemas.microsoft.com/office/drawing/2014/main" id="{65B5BC67-E059-4AA2-A956-8C6EFE0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0   ·   Load-SSE 0</a:t>
            </a:r>
          </a:p>
        </p:txBody>
      </p:sp>
      <p:sp>
        <p:nvSpPr>
          <p:cNvPr id="12" name="case-4-takeaway">
            <a:extLst xmlns:a="http://schemas.openxmlformats.org/drawingml/2006/main">
              <a:ext uri="{FF2B5EF4-FFF2-40B4-BE49-F238E27FC236}">
                <a16:creationId xmlns:a16="http://schemas.microsoft.com/office/drawing/2014/main" id="{1C8CA5D2-B2BB-458A-B3B0-0756CC78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/ 36 owners changed · total route distance 92 → 92 · every action keeps the same shortest distance</a:t>
            </a:r>
          </a:p>
        </p:txBody>
      </p:sp>
      <p:sp>
        <p:nvSpPr>
          <p:cNvPr id="13" name="case-4-slide-number">
            <a:extLst xmlns:a="http://schemas.openxmlformats.org/drawingml/2006/main">
              <a:ext uri="{FF2B5EF4-FFF2-40B4-BE49-F238E27FC236}">
                <a16:creationId xmlns:a16="http://schemas.microsoft.com/office/drawing/2014/main" id="{37E395BA-D970-4320-8E00-B5299A3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2638425" y="1123950"/>
          <a:ext xmlns:a="http://schemas.openxmlformats.org/drawingml/2006/main" cx="3867150" cy="22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203835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19050" marR="1905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19050" marR="1905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19050" marR="1905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19050" marR="19050" marT="0" marB="0" anchor="ctr">
                    <a:solidFill>
                      <a:srgbClr val="6E56C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  owner changed</a:t>
                      </a:r>
                    </a:p>
                  </a:txBody>
                  <a:tcPr marL="19050" marR="190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15049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6E56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73723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6E56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1114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se-5-title">
            <a:extLst xmlns:a="http://schemas.openxmlformats.org/drawingml/2006/main">
              <a:ext uri="{FF2B5EF4-FFF2-40B4-BE49-F238E27FC236}">
                <a16:creationId xmlns:a16="http://schemas.microsoft.com/office/drawing/2014/main" id="{EA3ED44D-6C36-44BC-8485-2B55F3E0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tie-aware moves improve the five-source split without detours</a:t>
            </a:r>
          </a:p>
        </p:txBody>
      </p:sp>
      <p:sp>
        <p:nvSpPr>
          <p:cNvPr id="2" name="case-5-subtitle">
            <a:extLst xmlns:a="http://schemas.openxmlformats.org/drawingml/2006/main">
              <a:ext uri="{FF2B5EF4-FFF2-40B4-BE49-F238E27FC236}">
                <a16:creationId xmlns:a16="http://schemas.microsoft.com/office/drawing/2014/main" id="{D5BA022D-67C6-49B2-97EB-34BB459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19150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Twin rooms with a narrow bridge · 37 actions · 5 sources · total route distance 78</a:t>
            </a:r>
          </a:p>
        </p:txBody>
      </p:sp>
      <p:sp>
        <p:nvSpPr>
          <p:cNvPr id="3" name="case-5-legend-label">
            <a:extLst xmlns:a="http://schemas.openxmlformats.org/drawingml/2006/main">
              <a:ext uri="{FF2B5EF4-FFF2-40B4-BE49-F238E27FC236}">
                <a16:creationId xmlns:a16="http://schemas.microsoft.com/office/drawing/2014/main" id="{8F8AB3DF-8C3F-4E4B-A159-0E80D54C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21336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Cell color = source owner</a:t>
            </a:r>
          </a:p>
        </p:txBody>
      </p:sp>
      <p:sp>
        <p:nvSpPr>
          <p:cNvPr id="4" name="case-5-duo-panel">
            <a:extLst xmlns:a="http://schemas.openxmlformats.org/drawingml/2006/main">
              <a:ext uri="{FF2B5EF4-FFF2-40B4-BE49-F238E27FC236}">
                <a16:creationId xmlns:a16="http://schemas.microsoft.com/office/drawing/2014/main" id="{1A6C1B00-FCE6-41BE-8245-6B994A66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case-5-balanced-panel">
            <a:extLst xmlns:a="http://schemas.openxmlformats.org/drawingml/2006/main">
              <a:ext uri="{FF2B5EF4-FFF2-40B4-BE49-F238E27FC236}">
                <a16:creationId xmlns:a16="http://schemas.microsoft.com/office/drawing/2014/main" id="{AE39DE38-6CBF-4CDA-85EA-E8A9A831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307" y="1438275"/>
            <a:ext cx="5534025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ase-5-duo-heading">
            <a:extLst xmlns:a="http://schemas.openxmlformats.org/drawingml/2006/main">
              <a:ext uri="{FF2B5EF4-FFF2-40B4-BE49-F238E27FC236}">
                <a16:creationId xmlns:a16="http://schemas.microsoft.com/office/drawing/2014/main" id="{A2EC23E6-052B-4759-B1AB-CC95CC39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Duo mode · nearest source</a:t>
            </a:r>
          </a:p>
        </p:txBody>
      </p:sp>
      <p:sp>
        <p:nvSpPr>
          <p:cNvPr id="7" name="case-5-balanced-heading">
            <a:extLst xmlns:a="http://schemas.openxmlformats.org/drawingml/2006/main">
              <a:ext uri="{FF2B5EF4-FFF2-40B4-BE49-F238E27FC236}">
                <a16:creationId xmlns:a16="http://schemas.microsoft.com/office/drawing/2014/main" id="{05DD2460-40B1-49F2-B82E-A3D4EB6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62100"/>
            <a:ext cx="5048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· equal-distance rebalance</a:t>
            </a:r>
          </a:p>
        </p:txBody>
      </p:sp>
      <p:sp>
        <p:nvSpPr>
          <p:cNvPr id="8" name="case-5-duo-loads">
            <a:extLst xmlns:a="http://schemas.openxmlformats.org/drawingml/2006/main">
              <a:ext uri="{FF2B5EF4-FFF2-40B4-BE49-F238E27FC236}">
                <a16:creationId xmlns:a16="http://schemas.microsoft.com/office/drawing/2014/main" id="{B9C6ECC2-A1EE-4CDE-BE45-1C6F7B96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9   ·   B2 9   ·   B3 6   ·   B4 9   ·   B5 4</a:t>
            </a:r>
          </a:p>
        </p:txBody>
      </p:sp>
      <p:sp>
        <p:nvSpPr>
          <p:cNvPr id="9" name="case-5-duo-metrics">
            <a:extLst xmlns:a="http://schemas.openxmlformats.org/drawingml/2006/main">
              <a:ext uri="{FF2B5EF4-FFF2-40B4-BE49-F238E27FC236}">
                <a16:creationId xmlns:a16="http://schemas.microsoft.com/office/drawing/2014/main" id="{4ACD6E89-E4FE-451D-8D7B-4721D0E1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5   ·   Load-SSE 21.2</a:t>
            </a:r>
          </a:p>
        </p:txBody>
      </p:sp>
      <p:sp>
        <p:nvSpPr>
          <p:cNvPr id="10" name="case-5-balanced-loads">
            <a:extLst xmlns:a="http://schemas.openxmlformats.org/drawingml/2006/main">
              <a:ext uri="{FF2B5EF4-FFF2-40B4-BE49-F238E27FC236}">
                <a16:creationId xmlns:a16="http://schemas.microsoft.com/office/drawing/2014/main" id="{3F443F79-C498-41D9-A003-4B34F82C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2387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Loads   B1 9   ·   B2 7   ·   B3 6   ·   B4 8   ·   B5 7</a:t>
            </a:r>
          </a:p>
        </p:txBody>
      </p:sp>
      <p:sp>
        <p:nvSpPr>
          <p:cNvPr id="11" name="case-5-balanced-metrics">
            <a:extLst xmlns:a="http://schemas.openxmlformats.org/drawingml/2006/main">
              <a:ext uri="{FF2B5EF4-FFF2-40B4-BE49-F238E27FC236}">
                <a16:creationId xmlns:a16="http://schemas.microsoft.com/office/drawing/2014/main" id="{A470EBEC-44BF-4763-87AD-0E52095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543550"/>
            <a:ext cx="5048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Spread 3   ·   Load-SSE 5.2</a:t>
            </a:r>
          </a:p>
        </p:txBody>
      </p:sp>
      <p:sp>
        <p:nvSpPr>
          <p:cNvPr id="12" name="case-5-takeaway">
            <a:extLst xmlns:a="http://schemas.openxmlformats.org/drawingml/2006/main">
              <a:ext uri="{FF2B5EF4-FFF2-40B4-BE49-F238E27FC236}">
                <a16:creationId xmlns:a16="http://schemas.microsoft.com/office/drawing/2014/main" id="{D7FB13DE-981A-4078-87D3-190F6F4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10668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/ 37 owners changed · total route distance 78 → 78 · every action keeps the same shortest distance</a:t>
            </a:r>
          </a:p>
        </p:txBody>
      </p:sp>
      <p:sp>
        <p:nvSpPr>
          <p:cNvPr id="13" name="case-5-slide-number">
            <a:extLst xmlns:a="http://schemas.openxmlformats.org/drawingml/2006/main">
              <a:ext uri="{FF2B5EF4-FFF2-40B4-BE49-F238E27FC236}">
                <a16:creationId xmlns:a16="http://schemas.microsoft.com/office/drawing/2014/main" id="{E750527D-5A2A-4D41-9F2E-4DF7BB07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2638425" y="1123950"/>
          <a:ext xmlns:a="http://schemas.openxmlformats.org/drawingml/2006/main" cx="4324350" cy="22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  <a:gridCol w="457200"/>
                <a:gridCol w="457200"/>
                <a:gridCol w="203835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19050" marR="1905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19050" marR="1905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19050" marR="1905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19050" marR="19050" marT="0" marB="0" anchor="ctr">
                    <a:solidFill>
                      <a:srgbClr val="6E56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B5</a:t>
                      </a:r>
                    </a:p>
                  </a:txBody>
                  <a:tcPr marL="19050" marR="19050" marT="0" marB="0" anchor="ctr">
                    <a:solidFill>
                      <a:srgbClr val="B23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  owner changed</a:t>
                      </a:r>
                    </a:p>
                  </a:txBody>
                  <a:tcPr marL="19050" marR="1905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"/>
          <p:cNvGraphicFramePr/>
          <p:nvPr/>
        </p:nvGraphicFramePr>
        <p:xfrm>
          <a:off xmlns:a="http://schemas.openxmlformats.org/drawingml/2006/main" x="15049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B5</a:t>
                      </a:r>
                    </a:p>
                  </a:txBody>
                  <a:tcPr marL="0" marR="0" marT="0" marB="0" anchor="ctr">
                    <a:solidFill>
                      <a:srgbClr val="B2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6E56C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mlns:a="http://schemas.openxmlformats.org/drawingml/2006/main" x="7372350" y="1952625"/>
          <a:ext xmlns:a="http://schemas.openxmlformats.org/drawingml/2006/main" cx="331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  <a:gridCol w="312420"/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B2</a:t>
                      </a:r>
                    </a:p>
                  </a:txBody>
                  <a:tcPr marL="0" marR="0" marT="0" marB="0" anchor="ctr">
                    <a:solidFill>
                      <a:srgbClr val="C45A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B3</a:t>
                      </a:r>
                    </a:p>
                  </a:txBody>
                  <a:tcPr marL="0" marR="0" marT="0" marB="0" anchor="ctr">
                    <a:solidFill>
                      <a:srgbClr val="147D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7EF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B5</a:t>
                      </a:r>
                    </a:p>
                  </a:txBody>
                  <a:tcPr marL="0" marR="0" marT="0" marB="0" anchor="ctr">
                    <a:solidFill>
                      <a:srgbClr val="B23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3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●</a:t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7E2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5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B1</a:t>
                      </a:r>
                    </a:p>
                  </a:txBody>
                  <a:tcPr marL="0" marR="0" marT="0" marB="0" anchor="ctr">
                    <a:solidFill>
                      <a:srgbClr val="166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E7E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B4</a:t>
                      </a:r>
                    </a:p>
                  </a:txBody>
                  <a:tcPr marL="0" marR="0" marT="0" marB="0" anchor="ctr">
                    <a:solidFill>
                      <a:srgbClr val="6E56CF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5F667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2733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ggregate-title">
            <a:extLst xmlns:a="http://schemas.openxmlformats.org/drawingml/2006/main">
              <a:ext uri="{FF2B5EF4-FFF2-40B4-BE49-F238E27FC236}">
                <a16:creationId xmlns:a16="http://schemas.microsoft.com/office/drawing/2014/main" id="{BD1AE4E8-3A02-4B66-8CF6-A86525C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Balanced mode cuts tie-driven load skew without detours</a:t>
            </a:r>
          </a:p>
        </p:txBody>
      </p:sp>
      <p:sp>
        <p:nvSpPr>
          <p:cNvPr id="2" name="aggregate-subtitle">
            <a:extLst xmlns:a="http://schemas.openxmlformats.org/drawingml/2006/main">
              <a:ext uri="{FF2B5EF4-FFF2-40B4-BE49-F238E27FC236}">
                <a16:creationId xmlns:a16="http://schemas.microsoft.com/office/drawing/2014/main" id="{6F3405CE-5C52-4FA5-A222-17674EC8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866775"/>
            <a:ext cx="11404568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30 connected 10 × 10 layouts · six topology families for each source count</a:t>
            </a:r>
          </a:p>
        </p:txBody>
      </p:sp>
      <p:sp>
        <p:nvSpPr>
          <p:cNvPr id="3" name="aggregate-chart-label">
            <a:extLst xmlns:a="http://schemas.openxmlformats.org/drawingml/2006/main">
              <a:ext uri="{FF2B5EF4-FFF2-40B4-BE49-F238E27FC236}">
                <a16:creationId xmlns:a16="http://schemas.microsoft.com/office/drawing/2014/main" id="{D1146F60-5937-44F5-A6F2-BD0072FE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286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load spread (assigned-action count)</a:t>
            </a:r>
          </a:p>
        </p:txBody>
      </p:sp>
      <p:sp>
        <p:nvSpPr>
          <p:cNvPr id="4" name="aggregate-card-1">
            <a:extLst xmlns:a="http://schemas.openxmlformats.org/drawingml/2006/main">
              <a:ext uri="{FF2B5EF4-FFF2-40B4-BE49-F238E27FC236}">
                <a16:creationId xmlns:a16="http://schemas.microsoft.com/office/drawing/2014/main" id="{FF605D92-8EAF-4692-8632-0478288C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1304925"/>
            <a:ext cx="553393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aggregate-card-2">
            <a:extLst xmlns:a="http://schemas.openxmlformats.org/drawingml/2006/main">
              <a:ext uri="{FF2B5EF4-FFF2-40B4-BE49-F238E27FC236}">
                <a16:creationId xmlns:a16="http://schemas.microsoft.com/office/drawing/2014/main" id="{A5CF62E6-28BD-4ED2-9047-9EB997E9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867025"/>
            <a:ext cx="553393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aggregate-card-3">
            <a:extLst xmlns:a="http://schemas.openxmlformats.org/drawingml/2006/main">
              <a:ext uri="{FF2B5EF4-FFF2-40B4-BE49-F238E27FC236}">
                <a16:creationId xmlns:a16="http://schemas.microsoft.com/office/drawing/2014/main" id="{4EA73B6C-60B1-4E25-A357-9ED78A0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429125"/>
            <a:ext cx="553393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aggregate-stat-1">
            <a:extLst xmlns:a="http://schemas.openxmlformats.org/drawingml/2006/main">
              <a:ext uri="{FF2B5EF4-FFF2-40B4-BE49-F238E27FC236}">
                <a16:creationId xmlns:a16="http://schemas.microsoft.com/office/drawing/2014/main" id="{62B4C6D3-FD94-476A-A9A8-B49E852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859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60.3%</a:t>
            </a:r>
          </a:p>
        </p:txBody>
      </p:sp>
      <p:sp>
        <p:nvSpPr>
          <p:cNvPr id="8" name="aggregate-stat-1-body">
            <a:extLst xmlns:a="http://schemas.openxmlformats.org/drawingml/2006/main">
              <a:ext uri="{FF2B5EF4-FFF2-40B4-BE49-F238E27FC236}">
                <a16:creationId xmlns:a16="http://schemas.microsoft.com/office/drawing/2014/main" id="{2786A1AF-9CD9-4F05-A9C4-8514944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95425"/>
            <a:ext cx="29051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lower mean load spread
7.875 → 3.125 across 24 multi-source cases</a:t>
            </a:r>
          </a:p>
        </p:txBody>
      </p:sp>
      <p:sp>
        <p:nvSpPr>
          <p:cNvPr id="9" name="aggregate-stat-2">
            <a:extLst xmlns:a="http://schemas.openxmlformats.org/drawingml/2006/main">
              <a:ext uri="{FF2B5EF4-FFF2-40B4-BE49-F238E27FC236}">
                <a16:creationId xmlns:a16="http://schemas.microsoft.com/office/drawing/2014/main" id="{A5A6E1B8-A4C2-4A94-AD8A-EC177E9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480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81.9%</a:t>
            </a:r>
          </a:p>
        </p:txBody>
      </p:sp>
      <p:sp>
        <p:nvSpPr>
          <p:cNvPr id="10" name="aggregate-stat-2-body">
            <a:extLst xmlns:a="http://schemas.openxmlformats.org/drawingml/2006/main">
              <a:ext uri="{FF2B5EF4-FFF2-40B4-BE49-F238E27FC236}">
                <a16:creationId xmlns:a16="http://schemas.microsoft.com/office/drawing/2014/main" id="{ABF926E2-8376-4D14-82DC-9BA75B01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57525"/>
            <a:ext cx="29051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lower mean load-SSE
67.95 → 12.28</a:t>
            </a:r>
          </a:p>
        </p:txBody>
      </p:sp>
      <p:sp>
        <p:nvSpPr>
          <p:cNvPr id="11" name="aggregate-stat-3">
            <a:extLst xmlns:a="http://schemas.openxmlformats.org/drawingml/2006/main">
              <a:ext uri="{FF2B5EF4-FFF2-40B4-BE49-F238E27FC236}">
                <a16:creationId xmlns:a16="http://schemas.microsoft.com/office/drawing/2014/main" id="{F9C5F787-A083-4B24-8DAC-448C7D8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101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 / 24</a:t>
            </a:r>
          </a:p>
        </p:txBody>
      </p:sp>
      <p:sp>
        <p:nvSpPr>
          <p:cNvPr id="12" name="aggregate-stat-3-body">
            <a:extLst xmlns:a="http://schemas.openxmlformats.org/drawingml/2006/main">
              <a:ext uri="{FF2B5EF4-FFF2-40B4-BE49-F238E27FC236}">
                <a16:creationId xmlns:a16="http://schemas.microsoft.com/office/drawing/2014/main" id="{98437191-EF3D-401A-9CF4-375F78F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9051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multi-source cases improved
8 tied · 0 worse · all 30 preserved every route distance</a:t>
            </a:r>
          </a:p>
        </p:txBody>
      </p:sp>
      <p:sp>
        <p:nvSpPr>
          <p:cNvPr id="13" name="aggregate-footnote">
            <a:extLst xmlns:a="http://schemas.openxmlformats.org/drawingml/2006/main">
              <a:ext uri="{FF2B5EF4-FFF2-40B4-BE49-F238E27FC236}">
                <a16:creationId xmlns:a16="http://schemas.microsoft.com/office/drawing/2014/main" id="{A5185981-259E-469C-9A62-550071D6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67425"/>
            <a:ext cx="106680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t>Load = assigned action-module count; Load-SSE = Σ(load − mean)². Curated tie-sensitive suite. Balanced assignment paths are not an electrically validated switch plan.</a:t>
            </a:r>
          </a:p>
        </p:txBody>
      </p:sp>
      <p:sp>
        <p:nvSpPr>
          <p:cNvPr id="14" name="aggregate-slide-number">
            <a:extLst xmlns:a="http://schemas.openxmlformats.org/drawingml/2006/main">
              <a:ext uri="{FF2B5EF4-FFF2-40B4-BE49-F238E27FC236}">
                <a16:creationId xmlns:a16="http://schemas.microsoft.com/office/drawing/2014/main" id="{E6ED4AF6-4870-4BC4-9233-E173C105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400800"/>
            <a:ext cx="518922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93668" y="1504950"/>
          <a:ext xmlns:a="http://schemas.openxmlformats.org/drawingml/2006/main" cx="5476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c4c3134d824681"/>
          </a:graphicData>
        </a:graphic>
      </p:graphicFrame>
    </p:spTree>
    <p:extLst>
      <p:ext uri="{BB962C8B-B14F-4D97-AF65-F5344CB8AC3E}">
        <p14:creationId xmlns:p14="http://schemas.microsoft.com/office/powerpoint/2010/main" val="1073647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2026-07-20T08:34:55.0330000Z</dcterms:created>
  <dcterms:modified xsi:type="dcterms:W3CDTF">2026-07-20T08:34:55.0330000Z</dcterms:modified>
</coreProperties>
</file>